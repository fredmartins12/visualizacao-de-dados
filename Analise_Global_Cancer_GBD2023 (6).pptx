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38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4F7C">
              <a:alpha val="20000"/>
            </a:srgbClr>
          </a:solidFill>
          <a:ln w="12700">
            <a:solidFill>
              <a:srgbClr val="0D4F7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57200"/>
            <a:ext cx="2011680" cy="2011680"/>
          </a:xfrm>
          <a:prstGeom prst="ellipse">
            <a:avLst/>
          </a:prstGeom>
          <a:solidFill>
            <a:srgbClr val="1B8A9A">
              <a:alpha val="15000"/>
            </a:srgbClr>
          </a:solidFill>
          <a:ln w="12700">
            <a:solidFill>
              <a:srgbClr val="1B8A9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731520"/>
            <a:ext cx="2377440" cy="292608"/>
          </a:xfrm>
          <a:prstGeom prst="rect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31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ESTUDO DE CASO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Global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Câncer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 2023 — Global Burden of Disease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5029200" cy="36576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2013 – 2023  |  Fonte: IHME  |  Escopo: Global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</a:rPr>
              <a:t>Global Burden of Disease Collaborative Network  ·  IHME,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103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91440" cy="2103120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cânceres representam o maior desafio global entre 2013 e 2023 — considerando incidência, mortalidade, prevalência e impacto na qualidade de vida?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474720"/>
            <a:ext cx="2651760" cy="256032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Fonte dos Dados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📊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Global Burden of Disease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Study 2023 (GBD 2023)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IHME — Seattle, EUA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3474720"/>
            <a:ext cx="2651760" cy="256032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474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Período Analisado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2013 a 2023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11 anos de dados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continuamente atualizados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474720"/>
            <a:ext cx="2651760" cy="256032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474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Escopo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7490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Escala global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Todos os sexos e idades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32 tipos de câncer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Estrutura do Estudo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777240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15568"/>
            <a:ext cx="640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" y="1115568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Preparação dos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Importação do banco GBD 2023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Limpeza e remoção de colunas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Filtragem exclusiva para cânceres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Remoção de categorias agregadas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97280"/>
            <a:ext cx="2788920" cy="77724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11" name="Text 9"/>
          <p:cNvSpPr/>
          <p:nvPr/>
        </p:nvSpPr>
        <p:spPr>
          <a:xfrm>
            <a:off x="3227832" y="1115568"/>
            <a:ext cx="640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86200" y="1115568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Análise Descritiva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93852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Incidência: casos novos por ano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Mortalidade: quem mais mata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Taxa de letalidade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Prevalência: vivendo com a doença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09728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097280"/>
            <a:ext cx="2788920" cy="7772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115568"/>
            <a:ext cx="640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9712" y="1115568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Análise Avançada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1938528"/>
            <a:ext cx="2560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Perfil scatter: incidência × mortalidade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Cor indica % de letalidade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Quadrantes por mediana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Evolução percentual 2013→2023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Bloco 1 — Preparação dos Dados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02920" cy="50292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Carregamento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264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Arquivo CSV do GBD 2023 lido automaticamente via pandas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502920" cy="50292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Limpeza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Remoção de colunas constantes (mesmo valor em todas as linhas)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80944"/>
            <a:ext cx="502920" cy="50292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89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Padronização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218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Renomeação para português; remoção de colunas de ID numérico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77056"/>
            <a:ext cx="502920" cy="502920"/>
          </a:xfrm>
          <a:prstGeom prst="ellipse">
            <a:avLst/>
          </a:prstGeom>
          <a:solidFill>
            <a:srgbClr val="1B8A9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85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Filtragem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Exclusão de doenças não-câncer e categorias agregadas (evita dupla contagem)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097280"/>
            <a:ext cx="3657600" cy="3749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1115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61D"/>
                </a:solidFill>
              </a:rPr>
              <a:t>Resultado após limpeza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0" y="1691640"/>
            <a:ext cx="1600200" cy="12801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7647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61D"/>
                </a:solidFill>
              </a:rPr>
              <a:t>11 anos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257800" y="23500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Período analisado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(2013 – 2023)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95160" y="1691640"/>
            <a:ext cx="1600200" cy="12801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76479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61D"/>
                </a:solidFill>
              </a:rPr>
              <a:t>32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95160" y="235000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Tipos de câncer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individuais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57800" y="3154680"/>
            <a:ext cx="1600200" cy="12801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61D"/>
                </a:solidFill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257800" y="381304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Métricas por registro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(nº, taxa, percentual)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3154680"/>
            <a:ext cx="1600200" cy="12801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227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61D"/>
                </a:solidFill>
              </a:rPr>
              <a:t>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995160" y="381304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Valores nulos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no banco final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2 — Visão Geral: Evolução Total do Câncer (2013–2023)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74320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1D"/>
                </a:solidFill>
              </a:rPr>
              <a:t>19,5M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casos novos em 2013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54680" y="749808"/>
            <a:ext cx="274320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749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1D"/>
                </a:solidFill>
              </a:rPr>
              <a:t>25,1M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54680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casos novos em 2023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749808"/>
            <a:ext cx="274320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749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61D"/>
                </a:solidFill>
              </a:rPr>
              <a:t>+28,6%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crescimento na década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627632"/>
            <a:ext cx="886968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Soma de todos os 31 tipos de câncer com classificação específica  ·  Fonte: GBD 2023 — IHME.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2 — Incidência: Casos Novos por Ano (2013–2023)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49808"/>
            <a:ext cx="88696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2 — Mortalidade: Top 10 que Mais Mataram (2013–2023)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749808"/>
            <a:ext cx="886968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2 — Incidência vs Óbitos e Taxa de Letalidade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31520"/>
            <a:ext cx="8961120" cy="4224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2 — Prevalência: Quantas Pessoas Vivem com Câncer?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Prevalência = todos que vivem com o diagnóstico (novos casos + sobreviventes)  ≠  Incidência (casos novos por ano)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70432"/>
            <a:ext cx="8869680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3 — Perfil de Agressividade: Incidência vs Mortalidade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61D"/>
                </a:solidFill>
              </a:rPr>
              <a:t>Cada ponto = 1 tipo de câncer  ·  Eixo X = Incidência  ·  Eixo Y = Óbitos  ·  Cor = % Letalidade (verde=baixa / vermelho=alta)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70432"/>
            <a:ext cx="8869680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Bloco 3 — Evolução Temporal: Quais Cânceres Estão Acelerando?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49808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Crescimento % da incidência entre 2013 e 2023  ·  Cânceres com maior base absoluta tendem a crescer menos em %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70432"/>
            <a:ext cx="8869680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9377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Fonte: GBD 2023 — IHME. Gráfico gerado diretamente pelo código do estudo.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286000" cy="45720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57200" cy="1737360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012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069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A9A"/>
                </a:solidFill>
              </a:rPr>
              <a:t>Incidência Crescente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Todos os 32 cânceres analisados tiveram crescimento entre 2013–2023. Câncer de pele não melanoma lidera em casos absolutos (~7M/ano). Pulmão, cólon/reto e mama dominam entre os demais.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7373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57200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96012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1069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Desafio Duplo: Pulmão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417320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 câncer de traqueia, brônquios e pulmão é o único que lidera simultaneamente em incidência e mortalidade absoluta (~20M de óbitos na década). Maior desafio oncológico global.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457200" cy="1737360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8036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1D"/>
                </a:solidFill>
              </a:rPr>
              <a:t>Dois Perfis Opostos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Cânceres como esôfago, pâncreas e fígado têm letalidade acima de 50%. Mama, próstata e pele não melanoma, apesar de frequentes, apresentam baixa letalidade — evidência de diagnóstico precoce.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0D4F7C"/>
          </a:solidFill>
          <a:ln w="12700">
            <a:solidFill>
              <a:srgbClr val="0D4F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880360"/>
            <a:ext cx="457200" cy="1737360"/>
          </a:xfrm>
          <a:prstGeom prst="rect">
            <a:avLst/>
          </a:prstGeom>
          <a:solidFill>
            <a:srgbClr val="2DB3C6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880360"/>
            <a:ext cx="457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2990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B3C6"/>
                </a:solidFill>
              </a:rPr>
              <a:t>Cânceres em Aceleração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337560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Nasofaringe (+45,7%), faringe (+45,4%) e tireoide (+41,2%) lideraram o crescimento percentual em incidência. Cânceres com menor base em 2013 tendem a crescer mais em %.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3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8A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Referências &amp; Metodologia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1280160"/>
          </a:xfrm>
          <a:prstGeom prst="rect">
            <a:avLst/>
          </a:prstGeom>
          <a:solidFill>
            <a:srgbClr val="F4A61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📚  Fonte Principal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Global Burden of Disease Collaborative Network. Global Burden of Disease Study 2023 (GBD 2023) Results.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Seattle, United States: Institute for Health Metrics and Evaluation (IHME), 2024.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Disponível em: https://vizhub.healthdata.org/gbd-results/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solidFill>
            <a:srgbClr val="0D4F7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Resumo Metodológico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🔧 Linguagem: Python 3  ·  Bibliotecas: pandas, numpy, matplotlib, seaborn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🗂️ Dados: GBD 2023 — escopo global, ambos os sexos, todas as idades, período 2013–2023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🧹 Pré-processamento: remoção de colunas constantes, filtragem de não-cânceres e categorias agregadas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📊 Análises: incidência, mortalidade, prevalência, taxa de letalidade e crescimento percentual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44398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📈 Todos os gráficos desta apresentação foram gerados diretamente pelo código do estudo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Análise desenvolvida com dados abertos do IHME  ·  Estudo de Caso Acadêmico  ·  GBD 2023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On-screen Show (16:9)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Global do Câncer — GBD 2023</dc:title>
  <dc:subject>PptxGenJS Presentation</dc:subject>
  <dc:creator>PptxGenJS</dc:creator>
  <cp:lastModifiedBy>fred martins</cp:lastModifiedBy>
  <cp:revision>1</cp:revision>
  <dcterms:created xsi:type="dcterms:W3CDTF">2026-03-24T02:52:04Z</dcterms:created>
  <dcterms:modified xsi:type="dcterms:W3CDTF">2026-03-24T02:54:32Z</dcterms:modified>
</cp:coreProperties>
</file>